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1430000" cy="6445250"/>
  <p:notesSz cx="11430000" cy="64452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632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57250" y="1998027"/>
            <a:ext cx="9715500" cy="13535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rgbClr val="FAF3F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14500" y="3609340"/>
            <a:ext cx="8001000" cy="16113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E0D6D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FAF3F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E0D6D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FAF3F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50" b="0" i="0">
                <a:solidFill>
                  <a:srgbClr val="FAF3F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524"/>
            <a:ext cx="11430000" cy="6429375"/>
          </a:xfrm>
          <a:custGeom>
            <a:avLst/>
            <a:gdLst/>
            <a:ahLst/>
            <a:cxnLst/>
            <a:rect l="l" t="t" r="r" b="b"/>
            <a:pathLst>
              <a:path w="11430000" h="6429375">
                <a:moveTo>
                  <a:pt x="11430000" y="0"/>
                </a:moveTo>
                <a:lnTo>
                  <a:pt x="0" y="0"/>
                </a:lnTo>
                <a:lnTo>
                  <a:pt x="0" y="6429375"/>
                </a:lnTo>
                <a:lnTo>
                  <a:pt x="11430000" y="6429375"/>
                </a:lnTo>
                <a:lnTo>
                  <a:pt x="11430000" y="0"/>
                </a:lnTo>
                <a:close/>
              </a:path>
            </a:pathLst>
          </a:custGeom>
          <a:solidFill>
            <a:srgbClr val="0F0F1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7466" y="963523"/>
            <a:ext cx="5340350" cy="1109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50" b="0" i="0">
                <a:solidFill>
                  <a:srgbClr val="FAF3F9"/>
                </a:solidFill>
                <a:latin typeface="Courier New"/>
                <a:cs typeface="Courier New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177091" y="2918332"/>
            <a:ext cx="5531484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E0D6DE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822" y="9550"/>
            <a:ext cx="4286178" cy="64293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466" y="1449298"/>
            <a:ext cx="4808855" cy="1688924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algn="just">
              <a:lnSpc>
                <a:spcPts val="4350"/>
              </a:lnSpc>
              <a:spcBef>
                <a:spcPts val="35"/>
              </a:spcBef>
            </a:pPr>
            <a:r>
              <a:rPr lang="ru-RU" spc="-20" dirty="0" smtClean="0"/>
              <a:t>Обзор программного продукта</a:t>
            </a:r>
            <a:r>
              <a:rPr lang="ru-RU" spc="-20" dirty="0" smtClean="0"/>
              <a:t>:</a:t>
            </a:r>
            <a:r>
              <a:rPr lang="en-US" spc="-20" dirty="0" smtClean="0"/>
              <a:t/>
            </a:r>
            <a:br>
              <a:rPr lang="en-US" spc="-20" dirty="0" smtClean="0"/>
            </a:br>
            <a:r>
              <a:rPr lang="en-US" spc="-20" dirty="0" smtClean="0"/>
              <a:t>  </a:t>
            </a:r>
            <a:r>
              <a:rPr lang="ru-RU" spc="-20" dirty="0" err="1" smtClean="0"/>
              <a:t>IntelliJ</a:t>
            </a:r>
            <a:r>
              <a:rPr lang="ru-RU" spc="-20" dirty="0" smtClean="0"/>
              <a:t> </a:t>
            </a:r>
            <a:r>
              <a:rPr lang="ru-RU" spc="-20" dirty="0"/>
              <a:t>IDEA</a:t>
            </a:r>
            <a:endParaRPr spc="-20" dirty="0"/>
          </a:p>
        </p:txBody>
      </p:sp>
      <p:sp>
        <p:nvSpPr>
          <p:cNvPr id="7" name="object 7"/>
          <p:cNvSpPr txBox="1"/>
          <p:nvPr/>
        </p:nvSpPr>
        <p:spPr>
          <a:xfrm>
            <a:off x="890841" y="3410584"/>
            <a:ext cx="4813300" cy="20024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Мощная IDE от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JetBrains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для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Kotlin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 других языков.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ru-RU" sz="1400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Интеллектуальный редактор кода ускоряет написание и поддерживает чистоту кода.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lang="ru-RU" sz="1400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Эта среда разработки поддерживает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фреймворки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Spring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Hibernate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Angular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для эффективной работы.</a:t>
            </a:r>
            <a:endParaRPr sz="14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0"/>
            <a:ext cx="4286292" cy="64293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93716" y="1582648"/>
            <a:ext cx="5814859" cy="56874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35"/>
              </a:spcBef>
            </a:pPr>
            <a:r>
              <a:rPr lang="ru-RU" sz="2800" spc="-10" dirty="0"/>
              <a:t>Что такое </a:t>
            </a:r>
            <a:r>
              <a:rPr lang="en-US" sz="2800" spc="-10" dirty="0"/>
              <a:t>IntelliJ IDEA?</a:t>
            </a:r>
            <a:endParaRPr sz="2800" spc="-10" dirty="0"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4893716" y="2384425"/>
            <a:ext cx="5831775" cy="3438121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ru-RU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Эта </a:t>
            </a:r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интегрированная среда разработки (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IDE) </a:t>
            </a:r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является продуктом компании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JetBrains</a:t>
            </a:r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Tx/>
              <a:buChar char="-"/>
            </a:pPr>
            <a:r>
              <a:rPr lang="ru-RU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Она </a:t>
            </a:r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поддерживает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Java,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Kotlin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, Python, JavaScript, SQL, HTML, CSS </a:t>
            </a:r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и другие языки</a:t>
            </a:r>
            <a:r>
              <a:rPr lang="ru-RU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endParaRPr lang="en-US" sz="18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Tx/>
              <a:buChar char="-"/>
            </a:pPr>
            <a:endParaRPr lang="ru-RU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ru-RU" sz="18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Платформа </a:t>
            </a:r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доступна на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Windows,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macOS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и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Linux, </a:t>
            </a:r>
            <a:r>
              <a:rPr lang="ru-RU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обеспечивая кроссплатформенную гибкость.</a:t>
            </a:r>
          </a:p>
          <a:p>
            <a:pPr marL="12700">
              <a:lnSpc>
                <a:spcPct val="100000"/>
              </a:lnSpc>
              <a:spcBef>
                <a:spcPts val="670"/>
              </a:spcBef>
            </a:pP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822" y="9550"/>
            <a:ext cx="4286178" cy="64293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14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Версии</a:t>
            </a:r>
            <a:r>
              <a:rPr spc="-10" dirty="0"/>
              <a:t> </a:t>
            </a:r>
            <a:r>
              <a:rPr dirty="0"/>
              <a:t>IntelliJ</a:t>
            </a:r>
            <a:r>
              <a:rPr spc="-10" dirty="0"/>
              <a:t> </a:t>
            </a:r>
            <a:r>
              <a:rPr spc="-20" dirty="0"/>
              <a:t>IDEA</a:t>
            </a:r>
          </a:p>
        </p:txBody>
      </p:sp>
      <p:sp>
        <p:nvSpPr>
          <p:cNvPr id="4" name="object 4"/>
          <p:cNvSpPr/>
          <p:nvPr/>
        </p:nvSpPr>
        <p:spPr>
          <a:xfrm>
            <a:off x="619125" y="2333625"/>
            <a:ext cx="2867025" cy="1485900"/>
          </a:xfrm>
          <a:custGeom>
            <a:avLst/>
            <a:gdLst/>
            <a:ahLst/>
            <a:cxnLst/>
            <a:rect l="l" t="t" r="r" b="b"/>
            <a:pathLst>
              <a:path w="2867025" h="1485900">
                <a:moveTo>
                  <a:pt x="2847809" y="0"/>
                </a:moveTo>
                <a:lnTo>
                  <a:pt x="19215" y="0"/>
                </a:lnTo>
                <a:lnTo>
                  <a:pt x="16382" y="558"/>
                </a:lnTo>
                <a:lnTo>
                  <a:pt x="0" y="19215"/>
                </a:lnTo>
                <a:lnTo>
                  <a:pt x="0" y="1463751"/>
                </a:lnTo>
                <a:lnTo>
                  <a:pt x="0" y="1466684"/>
                </a:lnTo>
                <a:lnTo>
                  <a:pt x="19215" y="1485900"/>
                </a:lnTo>
                <a:lnTo>
                  <a:pt x="2847809" y="1485900"/>
                </a:lnTo>
                <a:lnTo>
                  <a:pt x="2867025" y="1466684"/>
                </a:lnTo>
                <a:lnTo>
                  <a:pt x="2867025" y="19215"/>
                </a:lnTo>
                <a:lnTo>
                  <a:pt x="2850629" y="558"/>
                </a:lnTo>
                <a:lnTo>
                  <a:pt x="2847809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4567" y="2442082"/>
            <a:ext cx="2387600" cy="14380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100"/>
              </a:spcBef>
            </a:pP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Community Edition – 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бесплатная версия для </a:t>
            </a: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Java, </a:t>
            </a:r>
            <a:r>
              <a:rPr lang="en-US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Kotlin</a:t>
            </a: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Scala 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 </a:t>
            </a: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Android.</a:t>
            </a:r>
          </a:p>
          <a:p>
            <a:pPr marL="12700" marR="5080">
              <a:lnSpc>
                <a:spcPct val="133900"/>
              </a:lnSpc>
              <a:spcBef>
                <a:spcPts val="100"/>
              </a:spcBef>
            </a:pPr>
            <a:endParaRPr sz="14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57600" y="2333625"/>
            <a:ext cx="2867025" cy="1485900"/>
          </a:xfrm>
          <a:custGeom>
            <a:avLst/>
            <a:gdLst/>
            <a:ahLst/>
            <a:cxnLst/>
            <a:rect l="l" t="t" r="r" b="b"/>
            <a:pathLst>
              <a:path w="2867025" h="1485900">
                <a:moveTo>
                  <a:pt x="2847809" y="0"/>
                </a:moveTo>
                <a:lnTo>
                  <a:pt x="19215" y="0"/>
                </a:lnTo>
                <a:lnTo>
                  <a:pt x="16383" y="558"/>
                </a:lnTo>
                <a:lnTo>
                  <a:pt x="0" y="19215"/>
                </a:lnTo>
                <a:lnTo>
                  <a:pt x="0" y="1463751"/>
                </a:lnTo>
                <a:lnTo>
                  <a:pt x="0" y="1466684"/>
                </a:lnTo>
                <a:lnTo>
                  <a:pt x="19215" y="1485900"/>
                </a:lnTo>
                <a:lnTo>
                  <a:pt x="2847809" y="1485900"/>
                </a:lnTo>
                <a:lnTo>
                  <a:pt x="2867025" y="1466684"/>
                </a:lnTo>
                <a:lnTo>
                  <a:pt x="2867025" y="19215"/>
                </a:lnTo>
                <a:lnTo>
                  <a:pt x="2850629" y="558"/>
                </a:lnTo>
                <a:lnTo>
                  <a:pt x="2847809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24833" y="2442082"/>
            <a:ext cx="2499767" cy="146726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182880">
              <a:lnSpc>
                <a:spcPct val="131700"/>
              </a:lnSpc>
              <a:spcBef>
                <a:spcPts val="135"/>
              </a:spcBef>
            </a:pPr>
            <a:r>
              <a:rPr lang="ru-RU" sz="12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Ultimate</a:t>
            </a:r>
            <a:r>
              <a:rPr lang="ru-RU" sz="12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ru-RU" sz="12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Edition</a:t>
            </a:r>
            <a:r>
              <a:rPr lang="ru-RU" sz="12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платная версия с расширенным функционалом для веб- и корпоративной разработки.</a:t>
            </a:r>
          </a:p>
          <a:p>
            <a:pPr marL="12700" marR="182880">
              <a:lnSpc>
                <a:spcPct val="131700"/>
              </a:lnSpc>
              <a:spcBef>
                <a:spcPts val="135"/>
              </a:spcBef>
            </a:pPr>
            <a:endParaRPr sz="12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9125" y="4000500"/>
            <a:ext cx="5905500" cy="923925"/>
          </a:xfrm>
          <a:custGeom>
            <a:avLst/>
            <a:gdLst/>
            <a:ahLst/>
            <a:cxnLst/>
            <a:rect l="l" t="t" r="r" b="b"/>
            <a:pathLst>
              <a:path w="5905500" h="923925">
                <a:moveTo>
                  <a:pt x="5886284" y="0"/>
                </a:moveTo>
                <a:lnTo>
                  <a:pt x="19215" y="0"/>
                </a:lnTo>
                <a:lnTo>
                  <a:pt x="16382" y="558"/>
                </a:lnTo>
                <a:lnTo>
                  <a:pt x="0" y="19215"/>
                </a:lnTo>
                <a:lnTo>
                  <a:pt x="0" y="901776"/>
                </a:lnTo>
                <a:lnTo>
                  <a:pt x="0" y="904709"/>
                </a:lnTo>
                <a:lnTo>
                  <a:pt x="19215" y="923925"/>
                </a:lnTo>
                <a:lnTo>
                  <a:pt x="5886284" y="923925"/>
                </a:lnTo>
                <a:lnTo>
                  <a:pt x="5905500" y="904709"/>
                </a:lnTo>
                <a:lnTo>
                  <a:pt x="5905500" y="19215"/>
                </a:lnTo>
                <a:lnTo>
                  <a:pt x="5889104" y="558"/>
                </a:lnTo>
                <a:lnTo>
                  <a:pt x="5886284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85799" y="4029674"/>
            <a:ext cx="5638801" cy="1145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9500"/>
              </a:lnSpc>
              <a:spcBef>
                <a:spcPts val="100"/>
              </a:spcBef>
            </a:pP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EDU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Edition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– образовательная версия с интерактивными уроками для студентов и преподавателей.</a:t>
            </a:r>
          </a:p>
          <a:p>
            <a:pPr marL="12700" marR="5080">
              <a:lnSpc>
                <a:spcPct val="129500"/>
              </a:lnSpc>
              <a:spcBef>
                <a:spcPts val="100"/>
              </a:spcBef>
            </a:pPr>
            <a:endParaRPr sz="1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822" y="9550"/>
            <a:ext cx="4286178" cy="64293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28600" y="1012825"/>
            <a:ext cx="6781800" cy="1133002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35"/>
              </a:spcBef>
            </a:pPr>
            <a:r>
              <a:rPr lang="ru-RU" dirty="0">
                <a:latin typeface="Courier New" panose="02070309020205020404" pitchFamily="49" charset="0"/>
                <a:cs typeface="Courier New" panose="02070309020205020404" pitchFamily="49" charset="0"/>
              </a:rPr>
              <a:t>Ключевые возможности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IDE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spc="-25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9125" y="2371725"/>
            <a:ext cx="2867025" cy="1581150"/>
          </a:xfrm>
          <a:custGeom>
            <a:avLst/>
            <a:gdLst/>
            <a:ahLst/>
            <a:cxnLst/>
            <a:rect l="l" t="t" r="r" b="b"/>
            <a:pathLst>
              <a:path w="2867025" h="1581150">
                <a:moveTo>
                  <a:pt x="2847809" y="0"/>
                </a:moveTo>
                <a:lnTo>
                  <a:pt x="19215" y="0"/>
                </a:lnTo>
                <a:lnTo>
                  <a:pt x="16382" y="558"/>
                </a:lnTo>
                <a:lnTo>
                  <a:pt x="0" y="19215"/>
                </a:lnTo>
                <a:lnTo>
                  <a:pt x="0" y="1559001"/>
                </a:lnTo>
                <a:lnTo>
                  <a:pt x="0" y="1561934"/>
                </a:lnTo>
                <a:lnTo>
                  <a:pt x="19215" y="1581150"/>
                </a:lnTo>
                <a:lnTo>
                  <a:pt x="2847809" y="1581150"/>
                </a:lnTo>
                <a:lnTo>
                  <a:pt x="2867025" y="1561934"/>
                </a:lnTo>
                <a:lnTo>
                  <a:pt x="2867025" y="19215"/>
                </a:lnTo>
                <a:lnTo>
                  <a:pt x="2850629" y="558"/>
                </a:lnTo>
                <a:lnTo>
                  <a:pt x="2847809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4567" y="2528087"/>
            <a:ext cx="2299335" cy="150387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r>
              <a:rPr lang="ru-RU" sz="1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Интеллектуальный помощник</a:t>
            </a:r>
            <a:endParaRPr lang="en-US" sz="14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4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Ускоряет написание кода и предотвращает ошибки.</a:t>
            </a:r>
          </a:p>
          <a:p>
            <a:pPr marL="12700" marR="152400">
              <a:lnSpc>
                <a:spcPct val="103600"/>
              </a:lnSpc>
              <a:spcBef>
                <a:spcPts val="15"/>
              </a:spcBef>
            </a:pPr>
            <a:endParaRPr sz="14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57600" y="2371725"/>
            <a:ext cx="2867025" cy="1581150"/>
          </a:xfrm>
          <a:custGeom>
            <a:avLst/>
            <a:gdLst/>
            <a:ahLst/>
            <a:cxnLst/>
            <a:rect l="l" t="t" r="r" b="b"/>
            <a:pathLst>
              <a:path w="2867025" h="1581150">
                <a:moveTo>
                  <a:pt x="2847809" y="0"/>
                </a:moveTo>
                <a:lnTo>
                  <a:pt x="19215" y="0"/>
                </a:lnTo>
                <a:lnTo>
                  <a:pt x="16383" y="558"/>
                </a:lnTo>
                <a:lnTo>
                  <a:pt x="0" y="19215"/>
                </a:lnTo>
                <a:lnTo>
                  <a:pt x="0" y="1559001"/>
                </a:lnTo>
                <a:lnTo>
                  <a:pt x="0" y="1561934"/>
                </a:lnTo>
                <a:lnTo>
                  <a:pt x="19215" y="1581150"/>
                </a:lnTo>
                <a:lnTo>
                  <a:pt x="2847809" y="1581150"/>
                </a:lnTo>
                <a:lnTo>
                  <a:pt x="2867025" y="1561934"/>
                </a:lnTo>
                <a:lnTo>
                  <a:pt x="2867025" y="19215"/>
                </a:lnTo>
                <a:lnTo>
                  <a:pt x="2850629" y="558"/>
                </a:lnTo>
                <a:lnTo>
                  <a:pt x="2847809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08016" y="2435840"/>
            <a:ext cx="2401570" cy="1719317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r>
              <a:rPr lang="ru-RU" sz="1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Инструменты </a:t>
            </a:r>
            <a:r>
              <a:rPr lang="ru-RU" sz="14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рефакторинга</a:t>
            </a:r>
            <a:endParaRPr lang="en-US" sz="14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4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 анализ повышают чистоту и производительность кода.</a:t>
            </a:r>
          </a:p>
          <a:p>
            <a:pPr marL="12700" marR="786130">
              <a:lnSpc>
                <a:spcPct val="103600"/>
              </a:lnSpc>
              <a:spcBef>
                <a:spcPts val="15"/>
              </a:spcBef>
            </a:pPr>
            <a:endParaRPr sz="1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9125" y="4133850"/>
            <a:ext cx="5905500" cy="1304925"/>
          </a:xfrm>
          <a:custGeom>
            <a:avLst/>
            <a:gdLst/>
            <a:ahLst/>
            <a:cxnLst/>
            <a:rect l="l" t="t" r="r" b="b"/>
            <a:pathLst>
              <a:path w="5905500" h="1304925">
                <a:moveTo>
                  <a:pt x="5886284" y="0"/>
                </a:moveTo>
                <a:lnTo>
                  <a:pt x="19215" y="0"/>
                </a:lnTo>
                <a:lnTo>
                  <a:pt x="16382" y="558"/>
                </a:lnTo>
                <a:lnTo>
                  <a:pt x="0" y="19215"/>
                </a:lnTo>
                <a:lnTo>
                  <a:pt x="0" y="1282776"/>
                </a:lnTo>
                <a:lnTo>
                  <a:pt x="0" y="1285709"/>
                </a:lnTo>
                <a:lnTo>
                  <a:pt x="19215" y="1304925"/>
                </a:lnTo>
                <a:lnTo>
                  <a:pt x="5886284" y="1304925"/>
                </a:lnTo>
                <a:lnTo>
                  <a:pt x="5905500" y="1285709"/>
                </a:lnTo>
                <a:lnTo>
                  <a:pt x="5905500" y="19215"/>
                </a:lnTo>
                <a:lnTo>
                  <a:pt x="5889104" y="558"/>
                </a:lnTo>
                <a:lnTo>
                  <a:pt x="5886284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84567" y="4290212"/>
            <a:ext cx="5441836" cy="11015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ru-RU" sz="14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Отладка и профилирование</a:t>
            </a:r>
            <a:endParaRPr lang="en-US" sz="14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4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Встроенные отладчик и профилировщик помогают оптимизировать приложения.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822" y="9550"/>
            <a:ext cx="4286178" cy="64293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466" y="1068298"/>
            <a:ext cx="5871845" cy="2253181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35"/>
              </a:spcBef>
            </a:pPr>
            <a:r>
              <a:rPr lang="ru-RU" dirty="0"/>
              <a:t>Интеграция без границ: Поддержка всех ключевых технологий</a:t>
            </a:r>
            <a:br>
              <a:rPr lang="ru-RU" dirty="0"/>
            </a:b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619125" y="3028950"/>
            <a:ext cx="2867025" cy="1495425"/>
          </a:xfrm>
          <a:custGeom>
            <a:avLst/>
            <a:gdLst/>
            <a:ahLst/>
            <a:cxnLst/>
            <a:rect l="l" t="t" r="r" b="b"/>
            <a:pathLst>
              <a:path w="2867025" h="1495425">
                <a:moveTo>
                  <a:pt x="2847809" y="0"/>
                </a:moveTo>
                <a:lnTo>
                  <a:pt x="19215" y="0"/>
                </a:lnTo>
                <a:lnTo>
                  <a:pt x="16382" y="558"/>
                </a:lnTo>
                <a:lnTo>
                  <a:pt x="0" y="19215"/>
                </a:lnTo>
                <a:lnTo>
                  <a:pt x="0" y="1473276"/>
                </a:lnTo>
                <a:lnTo>
                  <a:pt x="0" y="1476209"/>
                </a:lnTo>
                <a:lnTo>
                  <a:pt x="19215" y="1495425"/>
                </a:lnTo>
                <a:lnTo>
                  <a:pt x="2847809" y="1495425"/>
                </a:lnTo>
                <a:lnTo>
                  <a:pt x="2867025" y="1476209"/>
                </a:lnTo>
                <a:lnTo>
                  <a:pt x="2867025" y="19215"/>
                </a:lnTo>
                <a:lnTo>
                  <a:pt x="2850629" y="558"/>
                </a:lnTo>
                <a:lnTo>
                  <a:pt x="2847809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4567" y="3137407"/>
            <a:ext cx="2476386" cy="1180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100"/>
              </a:spcBef>
            </a:pP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Полная поддержка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Java-фреймворков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таких как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Spring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Hibernate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12700" marR="5080">
              <a:lnSpc>
                <a:spcPct val="133900"/>
              </a:lnSpc>
              <a:spcBef>
                <a:spcPts val="100"/>
              </a:spcBef>
            </a:pPr>
            <a:endParaRPr sz="14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57600" y="3028950"/>
            <a:ext cx="2867025" cy="1495425"/>
          </a:xfrm>
          <a:custGeom>
            <a:avLst/>
            <a:gdLst/>
            <a:ahLst/>
            <a:cxnLst/>
            <a:rect l="l" t="t" r="r" b="b"/>
            <a:pathLst>
              <a:path w="2867025" h="1495425">
                <a:moveTo>
                  <a:pt x="2847809" y="0"/>
                </a:moveTo>
                <a:lnTo>
                  <a:pt x="19215" y="0"/>
                </a:lnTo>
                <a:lnTo>
                  <a:pt x="16383" y="558"/>
                </a:lnTo>
                <a:lnTo>
                  <a:pt x="0" y="19215"/>
                </a:lnTo>
                <a:lnTo>
                  <a:pt x="0" y="1473276"/>
                </a:lnTo>
                <a:lnTo>
                  <a:pt x="0" y="1476209"/>
                </a:lnTo>
                <a:lnTo>
                  <a:pt x="19215" y="1495425"/>
                </a:lnTo>
                <a:lnTo>
                  <a:pt x="2847809" y="1495425"/>
                </a:lnTo>
                <a:lnTo>
                  <a:pt x="2867025" y="1476209"/>
                </a:lnTo>
                <a:lnTo>
                  <a:pt x="2867025" y="19215"/>
                </a:lnTo>
                <a:lnTo>
                  <a:pt x="2850629" y="558"/>
                </a:lnTo>
                <a:lnTo>
                  <a:pt x="2847809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33800" y="3137407"/>
            <a:ext cx="2745511" cy="14380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100"/>
              </a:spcBef>
            </a:pP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Комплексные инструменты для веб-разработки: HTML, CSS,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JavaScript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Angular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React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 marL="12700" marR="5080">
              <a:lnSpc>
                <a:spcPct val="133900"/>
              </a:lnSpc>
              <a:spcBef>
                <a:spcPts val="100"/>
              </a:spcBef>
            </a:pPr>
            <a:endParaRPr sz="1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26270" y="4720176"/>
            <a:ext cx="5905500" cy="638175"/>
          </a:xfrm>
          <a:custGeom>
            <a:avLst/>
            <a:gdLst/>
            <a:ahLst/>
            <a:cxnLst/>
            <a:rect l="l" t="t" r="r" b="b"/>
            <a:pathLst>
              <a:path w="5905500" h="638175">
                <a:moveTo>
                  <a:pt x="5886284" y="0"/>
                </a:moveTo>
                <a:lnTo>
                  <a:pt x="19215" y="0"/>
                </a:lnTo>
                <a:lnTo>
                  <a:pt x="16382" y="558"/>
                </a:lnTo>
                <a:lnTo>
                  <a:pt x="0" y="19215"/>
                </a:lnTo>
                <a:lnTo>
                  <a:pt x="0" y="616026"/>
                </a:lnTo>
                <a:lnTo>
                  <a:pt x="0" y="618959"/>
                </a:lnTo>
                <a:lnTo>
                  <a:pt x="19215" y="638175"/>
                </a:lnTo>
                <a:lnTo>
                  <a:pt x="5886284" y="638175"/>
                </a:lnTo>
                <a:lnTo>
                  <a:pt x="5905500" y="618959"/>
                </a:lnTo>
                <a:lnTo>
                  <a:pt x="5905500" y="19215"/>
                </a:lnTo>
                <a:lnTo>
                  <a:pt x="5889104" y="558"/>
                </a:lnTo>
                <a:lnTo>
                  <a:pt x="5886284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57240" y="4895849"/>
            <a:ext cx="5643560" cy="45589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Легкая интеграция с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Kubernete</a:t>
            </a:r>
            <a:r>
              <a:rPr lang="en-US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</a:t>
            </a:r>
            <a:endParaRPr lang="ru-RU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endParaRPr sz="1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50"/>
            <a:ext cx="4286292" cy="64293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93716" y="647400"/>
            <a:ext cx="4808855" cy="170655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6900"/>
              </a:lnSpc>
              <a:spcBef>
                <a:spcPts val="90"/>
              </a:spcBef>
            </a:pPr>
            <a:r>
              <a:rPr lang="ru-RU" dirty="0"/>
              <a:t>Новинки последних версий (2024-2025)</a:t>
            </a:r>
            <a:br>
              <a:rPr lang="ru-RU" dirty="0"/>
            </a:b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4905375" y="2095500"/>
            <a:ext cx="2867025" cy="2143125"/>
          </a:xfrm>
          <a:custGeom>
            <a:avLst/>
            <a:gdLst/>
            <a:ahLst/>
            <a:cxnLst/>
            <a:rect l="l" t="t" r="r" b="b"/>
            <a:pathLst>
              <a:path w="2867025" h="2143125">
                <a:moveTo>
                  <a:pt x="2847809" y="0"/>
                </a:moveTo>
                <a:lnTo>
                  <a:pt x="19215" y="0"/>
                </a:lnTo>
                <a:lnTo>
                  <a:pt x="16383" y="558"/>
                </a:lnTo>
                <a:lnTo>
                  <a:pt x="0" y="19215"/>
                </a:lnTo>
                <a:lnTo>
                  <a:pt x="0" y="2120976"/>
                </a:lnTo>
                <a:lnTo>
                  <a:pt x="0" y="2123909"/>
                </a:lnTo>
                <a:lnTo>
                  <a:pt x="19215" y="2143125"/>
                </a:lnTo>
                <a:lnTo>
                  <a:pt x="2847809" y="2143125"/>
                </a:lnTo>
                <a:lnTo>
                  <a:pt x="2867025" y="2123909"/>
                </a:lnTo>
                <a:lnTo>
                  <a:pt x="2867025" y="19215"/>
                </a:lnTo>
                <a:lnTo>
                  <a:pt x="2850629" y="558"/>
                </a:lnTo>
                <a:lnTo>
                  <a:pt x="2847809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70818" y="2242337"/>
            <a:ext cx="2416175" cy="1857175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Улучшенная панель </a:t>
            </a:r>
            <a:r>
              <a:rPr lang="ru-RU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Structure</a:t>
            </a:r>
            <a:endParaRPr lang="en-US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4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Логически отображает код и связи для лучшего понимания архитектуры проекта.</a:t>
            </a:r>
          </a:p>
          <a:p>
            <a:pPr marL="12700" marR="136525">
              <a:lnSpc>
                <a:spcPct val="103600"/>
              </a:lnSpc>
              <a:spcBef>
                <a:spcPts val="15"/>
              </a:spcBef>
            </a:pPr>
            <a:endParaRPr sz="14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43850" y="2095500"/>
            <a:ext cx="2867025" cy="2143125"/>
          </a:xfrm>
          <a:custGeom>
            <a:avLst/>
            <a:gdLst/>
            <a:ahLst/>
            <a:cxnLst/>
            <a:rect l="l" t="t" r="r" b="b"/>
            <a:pathLst>
              <a:path w="2867025" h="2143125">
                <a:moveTo>
                  <a:pt x="2847809" y="0"/>
                </a:moveTo>
                <a:lnTo>
                  <a:pt x="19215" y="0"/>
                </a:lnTo>
                <a:lnTo>
                  <a:pt x="16382" y="558"/>
                </a:lnTo>
                <a:lnTo>
                  <a:pt x="0" y="19215"/>
                </a:lnTo>
                <a:lnTo>
                  <a:pt x="0" y="2120976"/>
                </a:lnTo>
                <a:lnTo>
                  <a:pt x="0" y="2123909"/>
                </a:lnTo>
                <a:lnTo>
                  <a:pt x="19215" y="2143125"/>
                </a:lnTo>
                <a:lnTo>
                  <a:pt x="2847809" y="2143125"/>
                </a:lnTo>
                <a:lnTo>
                  <a:pt x="2867025" y="2123909"/>
                </a:lnTo>
                <a:lnTo>
                  <a:pt x="2867025" y="19215"/>
                </a:lnTo>
                <a:lnTo>
                  <a:pt x="2850629" y="558"/>
                </a:lnTo>
                <a:lnTo>
                  <a:pt x="2847809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161972" y="2250385"/>
            <a:ext cx="2430780" cy="2180982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r>
              <a:rPr lang="ru-RU" sz="1600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Интеграция AI </a:t>
            </a:r>
            <a:r>
              <a:rPr lang="ru-RU" sz="1600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Assistant</a:t>
            </a:r>
            <a:endParaRPr lang="en-US" sz="16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6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Помогает в написании, </a:t>
            </a:r>
            <a:endParaRPr lang="en-US" sz="1600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6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рефакторинге</a:t>
            </a:r>
            <a:r>
              <a:rPr lang="ru-RU" sz="16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 объяснении кода, ускоряя разработку.</a:t>
            </a:r>
          </a:p>
          <a:p>
            <a:pPr marL="12700" marR="681990">
              <a:lnSpc>
                <a:spcPct val="103600"/>
              </a:lnSpc>
              <a:spcBef>
                <a:spcPts val="15"/>
              </a:spcBef>
            </a:pPr>
            <a:endParaRPr sz="1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05375" y="4419600"/>
            <a:ext cx="5905500" cy="1304925"/>
          </a:xfrm>
          <a:custGeom>
            <a:avLst/>
            <a:gdLst/>
            <a:ahLst/>
            <a:cxnLst/>
            <a:rect l="l" t="t" r="r" b="b"/>
            <a:pathLst>
              <a:path w="5905500" h="1304925">
                <a:moveTo>
                  <a:pt x="5886284" y="0"/>
                </a:moveTo>
                <a:lnTo>
                  <a:pt x="19215" y="0"/>
                </a:lnTo>
                <a:lnTo>
                  <a:pt x="16383" y="558"/>
                </a:lnTo>
                <a:lnTo>
                  <a:pt x="0" y="19215"/>
                </a:lnTo>
                <a:lnTo>
                  <a:pt x="0" y="1282776"/>
                </a:lnTo>
                <a:lnTo>
                  <a:pt x="0" y="1285709"/>
                </a:lnTo>
                <a:lnTo>
                  <a:pt x="19215" y="1304925"/>
                </a:lnTo>
                <a:lnTo>
                  <a:pt x="5886284" y="1304925"/>
                </a:lnTo>
                <a:lnTo>
                  <a:pt x="5905500" y="1285709"/>
                </a:lnTo>
                <a:lnTo>
                  <a:pt x="5905500" y="19215"/>
                </a:lnTo>
                <a:lnTo>
                  <a:pt x="5889104" y="558"/>
                </a:lnTo>
                <a:lnTo>
                  <a:pt x="5886284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70818" y="4566437"/>
            <a:ext cx="5506085" cy="11631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Расширенная поддержка </a:t>
            </a:r>
            <a:r>
              <a:rPr lang="ru-RU" b="1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endParaRPr lang="en-US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4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Позволяет управлять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pull-request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и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репозиториями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напрямую из IDE.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524"/>
            <a:ext cx="4286250" cy="64293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893716" y="963523"/>
            <a:ext cx="5606415" cy="1688924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35"/>
              </a:spcBef>
            </a:pPr>
            <a:r>
              <a:rPr lang="ru-RU" dirty="0"/>
              <a:t>Преимущества этой IDE для разработчика</a:t>
            </a:r>
            <a:r>
              <a:rPr lang="ru-RU" b="1" dirty="0"/>
              <a:t/>
            </a:r>
            <a:br>
              <a:rPr lang="ru-RU" b="1" dirty="0"/>
            </a:b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4905375" y="2371725"/>
            <a:ext cx="2867025" cy="1866900"/>
          </a:xfrm>
          <a:custGeom>
            <a:avLst/>
            <a:gdLst/>
            <a:ahLst/>
            <a:cxnLst/>
            <a:rect l="l" t="t" r="r" b="b"/>
            <a:pathLst>
              <a:path w="2867025" h="1866900">
                <a:moveTo>
                  <a:pt x="2847809" y="0"/>
                </a:moveTo>
                <a:lnTo>
                  <a:pt x="19215" y="0"/>
                </a:lnTo>
                <a:lnTo>
                  <a:pt x="16383" y="558"/>
                </a:lnTo>
                <a:lnTo>
                  <a:pt x="0" y="19215"/>
                </a:lnTo>
                <a:lnTo>
                  <a:pt x="0" y="1844751"/>
                </a:lnTo>
                <a:lnTo>
                  <a:pt x="0" y="1847684"/>
                </a:lnTo>
                <a:lnTo>
                  <a:pt x="19215" y="1866900"/>
                </a:lnTo>
                <a:lnTo>
                  <a:pt x="2847809" y="1866900"/>
                </a:lnTo>
                <a:lnTo>
                  <a:pt x="2867025" y="1847684"/>
                </a:lnTo>
                <a:lnTo>
                  <a:pt x="2867025" y="19215"/>
                </a:lnTo>
                <a:lnTo>
                  <a:pt x="2850629" y="558"/>
                </a:lnTo>
                <a:lnTo>
                  <a:pt x="2847809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70818" y="2459141"/>
            <a:ext cx="2562288" cy="1903983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Ускорение разработки</a:t>
            </a:r>
            <a:endParaRPr lang="en-US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Умные подсказки и автоматизация значительно ускоряют процесс.</a:t>
            </a:r>
          </a:p>
          <a:p>
            <a:pPr marL="12700" marR="1049020">
              <a:lnSpc>
                <a:spcPct val="103600"/>
              </a:lnSpc>
              <a:spcBef>
                <a:spcPts val="15"/>
              </a:spcBef>
            </a:pPr>
            <a:endParaRPr sz="14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43850" y="2371725"/>
            <a:ext cx="2867025" cy="1866900"/>
          </a:xfrm>
          <a:custGeom>
            <a:avLst/>
            <a:gdLst/>
            <a:ahLst/>
            <a:cxnLst/>
            <a:rect l="l" t="t" r="r" b="b"/>
            <a:pathLst>
              <a:path w="2867025" h="1866900">
                <a:moveTo>
                  <a:pt x="2847809" y="0"/>
                </a:moveTo>
                <a:lnTo>
                  <a:pt x="19215" y="0"/>
                </a:lnTo>
                <a:lnTo>
                  <a:pt x="16382" y="558"/>
                </a:lnTo>
                <a:lnTo>
                  <a:pt x="0" y="19215"/>
                </a:lnTo>
                <a:lnTo>
                  <a:pt x="0" y="1844751"/>
                </a:lnTo>
                <a:lnTo>
                  <a:pt x="0" y="1847684"/>
                </a:lnTo>
                <a:lnTo>
                  <a:pt x="19215" y="1866900"/>
                </a:lnTo>
                <a:lnTo>
                  <a:pt x="2847809" y="1866900"/>
                </a:lnTo>
                <a:lnTo>
                  <a:pt x="2867025" y="1847684"/>
                </a:lnTo>
                <a:lnTo>
                  <a:pt x="2867025" y="19215"/>
                </a:lnTo>
                <a:lnTo>
                  <a:pt x="2850629" y="558"/>
                </a:lnTo>
                <a:lnTo>
                  <a:pt x="2847809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077200" y="2528087"/>
            <a:ext cx="2588373" cy="1842427"/>
          </a:xfrm>
          <a:prstGeom prst="rect">
            <a:avLst/>
          </a:prstGeom>
        </p:spPr>
        <p:txBody>
          <a:bodyPr vert="horz" wrap="square" lIns="0" tIns="1905" rIns="0" bIns="0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Интуитивная навигация</a:t>
            </a:r>
            <a:endParaRPr lang="en-US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4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IDE предоставляет интуитивно понятную навигацию по проекту и коду.</a:t>
            </a:r>
          </a:p>
          <a:p>
            <a:pPr marL="12700" marR="1048385">
              <a:lnSpc>
                <a:spcPct val="103600"/>
              </a:lnSpc>
              <a:spcBef>
                <a:spcPts val="15"/>
              </a:spcBef>
            </a:pPr>
            <a:endParaRPr sz="1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905375" y="4419600"/>
            <a:ext cx="5905500" cy="1019175"/>
          </a:xfrm>
          <a:custGeom>
            <a:avLst/>
            <a:gdLst/>
            <a:ahLst/>
            <a:cxnLst/>
            <a:rect l="l" t="t" r="r" b="b"/>
            <a:pathLst>
              <a:path w="5905500" h="1019175">
                <a:moveTo>
                  <a:pt x="5886284" y="0"/>
                </a:moveTo>
                <a:lnTo>
                  <a:pt x="19215" y="0"/>
                </a:lnTo>
                <a:lnTo>
                  <a:pt x="16383" y="558"/>
                </a:lnTo>
                <a:lnTo>
                  <a:pt x="0" y="19215"/>
                </a:lnTo>
                <a:lnTo>
                  <a:pt x="0" y="997026"/>
                </a:lnTo>
                <a:lnTo>
                  <a:pt x="0" y="999959"/>
                </a:lnTo>
                <a:lnTo>
                  <a:pt x="19215" y="1019175"/>
                </a:lnTo>
                <a:lnTo>
                  <a:pt x="5886284" y="1019175"/>
                </a:lnTo>
                <a:lnTo>
                  <a:pt x="5905500" y="999959"/>
                </a:lnTo>
                <a:lnTo>
                  <a:pt x="5905500" y="19215"/>
                </a:lnTo>
                <a:lnTo>
                  <a:pt x="5889104" y="558"/>
                </a:lnTo>
                <a:lnTo>
                  <a:pt x="5886284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070817" y="4518025"/>
            <a:ext cx="5594756" cy="100155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Стабильность и скорость</a:t>
            </a:r>
          </a:p>
          <a:p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Среда разработки обеспечивает стабильную и быструю работу.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750" dirty="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822" y="9550"/>
            <a:ext cx="4286178" cy="64293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466" y="820648"/>
            <a:ext cx="4808855" cy="1688924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35"/>
              </a:spcBef>
            </a:pPr>
            <a:r>
              <a:rPr lang="ru-RU" dirty="0"/>
              <a:t>Установка и первые шаги</a:t>
            </a:r>
            <a:r>
              <a:rPr lang="ru-RU" b="1" dirty="0"/>
              <a:t/>
            </a:r>
            <a:br>
              <a:rPr lang="ru-RU" b="1" dirty="0"/>
            </a:br>
            <a:endParaRPr spc="-20" dirty="0"/>
          </a:p>
        </p:txBody>
      </p:sp>
      <p:sp>
        <p:nvSpPr>
          <p:cNvPr id="4" name="object 4"/>
          <p:cNvSpPr/>
          <p:nvPr/>
        </p:nvSpPr>
        <p:spPr>
          <a:xfrm>
            <a:off x="619125" y="2228850"/>
            <a:ext cx="2867025" cy="1876425"/>
          </a:xfrm>
          <a:custGeom>
            <a:avLst/>
            <a:gdLst/>
            <a:ahLst/>
            <a:cxnLst/>
            <a:rect l="l" t="t" r="r" b="b"/>
            <a:pathLst>
              <a:path w="2867025" h="1876425">
                <a:moveTo>
                  <a:pt x="2847809" y="0"/>
                </a:moveTo>
                <a:lnTo>
                  <a:pt x="19215" y="0"/>
                </a:lnTo>
                <a:lnTo>
                  <a:pt x="16382" y="558"/>
                </a:lnTo>
                <a:lnTo>
                  <a:pt x="0" y="19215"/>
                </a:lnTo>
                <a:lnTo>
                  <a:pt x="0" y="1854276"/>
                </a:lnTo>
                <a:lnTo>
                  <a:pt x="0" y="1857209"/>
                </a:lnTo>
                <a:lnTo>
                  <a:pt x="19215" y="1876425"/>
                </a:lnTo>
                <a:lnTo>
                  <a:pt x="2847809" y="1876425"/>
                </a:lnTo>
                <a:lnTo>
                  <a:pt x="2867025" y="1857209"/>
                </a:lnTo>
                <a:lnTo>
                  <a:pt x="2867025" y="19215"/>
                </a:lnTo>
                <a:lnTo>
                  <a:pt x="2850629" y="558"/>
                </a:lnTo>
                <a:lnTo>
                  <a:pt x="2847809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4567" y="2385212"/>
            <a:ext cx="2510790" cy="1809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Загрузка</a:t>
            </a:r>
            <a:endParaRPr lang="en-US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4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Загрузите среду разработки с официального сайта, выбрав подходящую версию.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4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57600" y="2228850"/>
            <a:ext cx="2867025" cy="1876425"/>
          </a:xfrm>
          <a:custGeom>
            <a:avLst/>
            <a:gdLst/>
            <a:ahLst/>
            <a:cxnLst/>
            <a:rect l="l" t="t" r="r" b="b"/>
            <a:pathLst>
              <a:path w="2867025" h="1876425">
                <a:moveTo>
                  <a:pt x="2847809" y="0"/>
                </a:moveTo>
                <a:lnTo>
                  <a:pt x="19215" y="0"/>
                </a:lnTo>
                <a:lnTo>
                  <a:pt x="16383" y="558"/>
                </a:lnTo>
                <a:lnTo>
                  <a:pt x="0" y="19215"/>
                </a:lnTo>
                <a:lnTo>
                  <a:pt x="0" y="1854276"/>
                </a:lnTo>
                <a:lnTo>
                  <a:pt x="0" y="1857209"/>
                </a:lnTo>
                <a:lnTo>
                  <a:pt x="19215" y="1876425"/>
                </a:lnTo>
                <a:lnTo>
                  <a:pt x="2847809" y="1876425"/>
                </a:lnTo>
                <a:lnTo>
                  <a:pt x="2867025" y="1857209"/>
                </a:lnTo>
                <a:lnTo>
                  <a:pt x="2867025" y="19215"/>
                </a:lnTo>
                <a:lnTo>
                  <a:pt x="2850629" y="558"/>
                </a:lnTo>
                <a:lnTo>
                  <a:pt x="2847809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24833" y="2385212"/>
            <a:ext cx="2395855" cy="18094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Установка</a:t>
            </a:r>
            <a:endParaRPr lang="en-US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4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Процесс установки прост и интуитивно понятен на всех основных операционных системах.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9125" y="4276725"/>
            <a:ext cx="5905500" cy="1304925"/>
          </a:xfrm>
          <a:custGeom>
            <a:avLst/>
            <a:gdLst/>
            <a:ahLst/>
            <a:cxnLst/>
            <a:rect l="l" t="t" r="r" b="b"/>
            <a:pathLst>
              <a:path w="5905500" h="1304925">
                <a:moveTo>
                  <a:pt x="5886284" y="0"/>
                </a:moveTo>
                <a:lnTo>
                  <a:pt x="19215" y="0"/>
                </a:lnTo>
                <a:lnTo>
                  <a:pt x="16382" y="558"/>
                </a:lnTo>
                <a:lnTo>
                  <a:pt x="0" y="19215"/>
                </a:lnTo>
                <a:lnTo>
                  <a:pt x="0" y="1282776"/>
                </a:lnTo>
                <a:lnTo>
                  <a:pt x="0" y="1285709"/>
                </a:lnTo>
                <a:lnTo>
                  <a:pt x="19215" y="1304925"/>
                </a:lnTo>
                <a:lnTo>
                  <a:pt x="5886284" y="1304925"/>
                </a:lnTo>
                <a:lnTo>
                  <a:pt x="5905500" y="1285709"/>
                </a:lnTo>
                <a:lnTo>
                  <a:pt x="5905500" y="19215"/>
                </a:lnTo>
                <a:lnTo>
                  <a:pt x="5889104" y="558"/>
                </a:lnTo>
                <a:lnTo>
                  <a:pt x="5886284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84567" y="4433087"/>
            <a:ext cx="4947920" cy="11631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Старт проекта</a:t>
            </a:r>
            <a:endParaRPr lang="en-US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sz="1400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Создайте свой первый проект и интегрируйте его с </a:t>
            </a:r>
            <a:r>
              <a:rPr lang="ru-RU" sz="1400" dirty="0" err="1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для контроля версий.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750" y="9524"/>
            <a:ext cx="4286250" cy="642937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466" y="1106398"/>
            <a:ext cx="5606415" cy="1688924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>
              <a:lnSpc>
                <a:spcPts val="4350"/>
              </a:lnSpc>
              <a:spcBef>
                <a:spcPts val="35"/>
              </a:spcBef>
            </a:pPr>
            <a:r>
              <a:rPr lang="ru-RU" dirty="0"/>
              <a:t>Советы по эффективной работе</a:t>
            </a:r>
            <a:r>
              <a:rPr lang="ru-RU" b="1" dirty="0"/>
              <a:t/>
            </a:r>
            <a:br>
              <a:rPr lang="ru-RU" b="1" dirty="0"/>
            </a:br>
            <a:endParaRPr spc="-10" dirty="0"/>
          </a:p>
        </p:txBody>
      </p:sp>
      <p:sp>
        <p:nvSpPr>
          <p:cNvPr id="4" name="object 4"/>
          <p:cNvSpPr/>
          <p:nvPr/>
        </p:nvSpPr>
        <p:spPr>
          <a:xfrm>
            <a:off x="619125" y="2514600"/>
            <a:ext cx="2867025" cy="1590675"/>
          </a:xfrm>
          <a:custGeom>
            <a:avLst/>
            <a:gdLst/>
            <a:ahLst/>
            <a:cxnLst/>
            <a:rect l="l" t="t" r="r" b="b"/>
            <a:pathLst>
              <a:path w="2867025" h="1590675">
                <a:moveTo>
                  <a:pt x="2847809" y="0"/>
                </a:moveTo>
                <a:lnTo>
                  <a:pt x="19215" y="0"/>
                </a:lnTo>
                <a:lnTo>
                  <a:pt x="16382" y="558"/>
                </a:lnTo>
                <a:lnTo>
                  <a:pt x="0" y="19215"/>
                </a:lnTo>
                <a:lnTo>
                  <a:pt x="0" y="1568526"/>
                </a:lnTo>
                <a:lnTo>
                  <a:pt x="0" y="1571459"/>
                </a:lnTo>
                <a:lnTo>
                  <a:pt x="19215" y="1590675"/>
                </a:lnTo>
                <a:lnTo>
                  <a:pt x="2847809" y="1590675"/>
                </a:lnTo>
                <a:lnTo>
                  <a:pt x="2867025" y="1571459"/>
                </a:lnTo>
                <a:lnTo>
                  <a:pt x="2867025" y="19215"/>
                </a:lnTo>
                <a:lnTo>
                  <a:pt x="2850629" y="558"/>
                </a:lnTo>
                <a:lnTo>
                  <a:pt x="2847809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62000" y="2613026"/>
            <a:ext cx="2667000" cy="144013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Горячие клавиши</a:t>
            </a:r>
            <a:endParaRPr lang="en-US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Используйте их для быстрой навигации и повышения продуктивности.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4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657600" y="2514600"/>
            <a:ext cx="2867025" cy="1590675"/>
          </a:xfrm>
          <a:custGeom>
            <a:avLst/>
            <a:gdLst/>
            <a:ahLst/>
            <a:cxnLst/>
            <a:rect l="l" t="t" r="r" b="b"/>
            <a:pathLst>
              <a:path w="2867025" h="1590675">
                <a:moveTo>
                  <a:pt x="2847809" y="0"/>
                </a:moveTo>
                <a:lnTo>
                  <a:pt x="19215" y="0"/>
                </a:lnTo>
                <a:lnTo>
                  <a:pt x="16383" y="558"/>
                </a:lnTo>
                <a:lnTo>
                  <a:pt x="0" y="19215"/>
                </a:lnTo>
                <a:lnTo>
                  <a:pt x="0" y="1568526"/>
                </a:lnTo>
                <a:lnTo>
                  <a:pt x="0" y="1571459"/>
                </a:lnTo>
                <a:lnTo>
                  <a:pt x="19215" y="1590675"/>
                </a:lnTo>
                <a:lnTo>
                  <a:pt x="2847809" y="1590675"/>
                </a:lnTo>
                <a:lnTo>
                  <a:pt x="2867025" y="1571459"/>
                </a:lnTo>
                <a:lnTo>
                  <a:pt x="2867025" y="19215"/>
                </a:lnTo>
                <a:lnTo>
                  <a:pt x="2850629" y="558"/>
                </a:lnTo>
                <a:lnTo>
                  <a:pt x="2847809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10000" y="2613026"/>
            <a:ext cx="2440533" cy="150169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Настройка плагинов</a:t>
            </a:r>
            <a:endParaRPr lang="en-US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Расширяйте функционал IDE под свои задачи.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9125" y="4270575"/>
            <a:ext cx="5905500" cy="1019175"/>
          </a:xfrm>
          <a:custGeom>
            <a:avLst/>
            <a:gdLst/>
            <a:ahLst/>
            <a:cxnLst/>
            <a:rect l="l" t="t" r="r" b="b"/>
            <a:pathLst>
              <a:path w="5905500" h="1019175">
                <a:moveTo>
                  <a:pt x="5886284" y="0"/>
                </a:moveTo>
                <a:lnTo>
                  <a:pt x="19215" y="0"/>
                </a:lnTo>
                <a:lnTo>
                  <a:pt x="16382" y="558"/>
                </a:lnTo>
                <a:lnTo>
                  <a:pt x="0" y="19215"/>
                </a:lnTo>
                <a:lnTo>
                  <a:pt x="0" y="997026"/>
                </a:lnTo>
                <a:lnTo>
                  <a:pt x="0" y="999959"/>
                </a:lnTo>
                <a:lnTo>
                  <a:pt x="19215" y="1019175"/>
                </a:lnTo>
                <a:lnTo>
                  <a:pt x="5886284" y="1019175"/>
                </a:lnTo>
                <a:lnTo>
                  <a:pt x="5905500" y="999959"/>
                </a:lnTo>
                <a:lnTo>
                  <a:pt x="5905500" y="19215"/>
                </a:lnTo>
                <a:lnTo>
                  <a:pt x="5889104" y="558"/>
                </a:lnTo>
                <a:lnTo>
                  <a:pt x="5886284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62000" y="4303723"/>
            <a:ext cx="5146915" cy="12246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Регулярные обновления</a:t>
            </a:r>
            <a:endParaRPr lang="en-US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ru-RU" b="1" dirty="0" smtClean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ru-RU" sz="1400" dirty="0" smtClean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Получайте новые функции и улучшения производительности.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400" dirty="0">
              <a:solidFill>
                <a:schemeClr val="bg1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43822" y="9550"/>
            <a:ext cx="4286178" cy="64293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07466" y="639673"/>
            <a:ext cx="2682875" cy="55753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Заключение</a:t>
            </a:r>
          </a:p>
        </p:txBody>
      </p:sp>
      <p:sp>
        <p:nvSpPr>
          <p:cNvPr id="4" name="object 4"/>
          <p:cNvSpPr/>
          <p:nvPr/>
        </p:nvSpPr>
        <p:spPr>
          <a:xfrm>
            <a:off x="619125" y="1495424"/>
            <a:ext cx="5905500" cy="1304925"/>
          </a:xfrm>
          <a:custGeom>
            <a:avLst/>
            <a:gdLst/>
            <a:ahLst/>
            <a:cxnLst/>
            <a:rect l="l" t="t" r="r" b="b"/>
            <a:pathLst>
              <a:path w="5905500" h="1304925">
                <a:moveTo>
                  <a:pt x="5886284" y="0"/>
                </a:moveTo>
                <a:lnTo>
                  <a:pt x="19215" y="0"/>
                </a:lnTo>
                <a:lnTo>
                  <a:pt x="16382" y="558"/>
                </a:lnTo>
                <a:lnTo>
                  <a:pt x="0" y="19215"/>
                </a:lnTo>
                <a:lnTo>
                  <a:pt x="0" y="1282776"/>
                </a:lnTo>
                <a:lnTo>
                  <a:pt x="0" y="1285709"/>
                </a:lnTo>
                <a:lnTo>
                  <a:pt x="19215" y="1304925"/>
                </a:lnTo>
                <a:lnTo>
                  <a:pt x="5886284" y="1304925"/>
                </a:lnTo>
                <a:lnTo>
                  <a:pt x="5905500" y="1285709"/>
                </a:lnTo>
                <a:lnTo>
                  <a:pt x="5905500" y="19215"/>
                </a:lnTo>
                <a:lnTo>
                  <a:pt x="5889104" y="558"/>
                </a:lnTo>
                <a:lnTo>
                  <a:pt x="5886284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784567" y="1651787"/>
            <a:ext cx="4773930" cy="12246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Интеллектуальная разработка</a:t>
            </a:r>
            <a:endParaRPr lang="en-US" b="1" dirty="0" smtClean="0">
              <a:solidFill>
                <a:schemeClr val="bg1"/>
              </a:solidFill>
            </a:endParaRPr>
          </a:p>
          <a:p>
            <a:endParaRPr lang="ru-RU" b="1" dirty="0" smtClean="0">
              <a:solidFill>
                <a:schemeClr val="bg1"/>
              </a:solidFill>
            </a:endParaRPr>
          </a:p>
          <a:p>
            <a:r>
              <a:rPr lang="ru-RU" sz="1400" dirty="0" smtClean="0">
                <a:solidFill>
                  <a:schemeClr val="bg1"/>
                </a:solidFill>
              </a:rPr>
              <a:t>Ускорьте написание кода с помощью интеллектуального </a:t>
            </a:r>
            <a:r>
              <a:rPr lang="ru-RU" sz="1400" dirty="0" err="1" smtClean="0">
                <a:solidFill>
                  <a:schemeClr val="bg1"/>
                </a:solidFill>
              </a:rPr>
              <a:t>автодополнения</a:t>
            </a:r>
            <a:r>
              <a:rPr lang="ru-RU" sz="1400" dirty="0" smtClean="0">
                <a:solidFill>
                  <a:schemeClr val="bg1"/>
                </a:solidFill>
              </a:rPr>
              <a:t>, анализа и </a:t>
            </a:r>
            <a:r>
              <a:rPr lang="ru-RU" sz="1400" dirty="0" err="1" smtClean="0">
                <a:solidFill>
                  <a:schemeClr val="bg1"/>
                </a:solidFill>
              </a:rPr>
              <a:t>рефакторинга</a:t>
            </a:r>
            <a:r>
              <a:rPr lang="ru-RU" sz="1400" dirty="0" smtClean="0">
                <a:solidFill>
                  <a:schemeClr val="bg1"/>
                </a:solidFill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4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19125" y="2981325"/>
            <a:ext cx="5905500" cy="1295400"/>
          </a:xfrm>
          <a:custGeom>
            <a:avLst/>
            <a:gdLst/>
            <a:ahLst/>
            <a:cxnLst/>
            <a:rect l="l" t="t" r="r" b="b"/>
            <a:pathLst>
              <a:path w="5905500" h="1295400">
                <a:moveTo>
                  <a:pt x="5886284" y="0"/>
                </a:moveTo>
                <a:lnTo>
                  <a:pt x="19215" y="0"/>
                </a:lnTo>
                <a:lnTo>
                  <a:pt x="16382" y="558"/>
                </a:lnTo>
                <a:lnTo>
                  <a:pt x="0" y="19215"/>
                </a:lnTo>
                <a:lnTo>
                  <a:pt x="0" y="1273251"/>
                </a:lnTo>
                <a:lnTo>
                  <a:pt x="0" y="1276184"/>
                </a:lnTo>
                <a:lnTo>
                  <a:pt x="19215" y="1295400"/>
                </a:lnTo>
                <a:lnTo>
                  <a:pt x="5886284" y="1295400"/>
                </a:lnTo>
                <a:lnTo>
                  <a:pt x="5905500" y="1276184"/>
                </a:lnTo>
                <a:lnTo>
                  <a:pt x="5905500" y="19215"/>
                </a:lnTo>
                <a:lnTo>
                  <a:pt x="5889104" y="558"/>
                </a:lnTo>
                <a:lnTo>
                  <a:pt x="5886284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84567" y="3128162"/>
            <a:ext cx="4735195" cy="116313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Универсальная платформа</a:t>
            </a:r>
            <a:endParaRPr lang="en-US" b="1" dirty="0" smtClean="0">
              <a:solidFill>
                <a:schemeClr val="bg1"/>
              </a:solidFill>
            </a:endParaRPr>
          </a:p>
          <a:p>
            <a:endParaRPr lang="ru-RU" sz="1400" b="1" dirty="0" smtClean="0">
              <a:solidFill>
                <a:schemeClr val="bg1"/>
              </a:solidFill>
            </a:endParaRPr>
          </a:p>
          <a:p>
            <a:r>
              <a:rPr lang="ru-RU" sz="1400" dirty="0" smtClean="0">
                <a:solidFill>
                  <a:schemeClr val="bg1"/>
                </a:solidFill>
              </a:rPr>
              <a:t>Поддерживает широкий спектр языков, </a:t>
            </a:r>
            <a:r>
              <a:rPr lang="ru-RU" sz="1400" dirty="0" err="1" smtClean="0">
                <a:solidFill>
                  <a:schemeClr val="bg1"/>
                </a:solidFill>
              </a:rPr>
              <a:t>фреймворков</a:t>
            </a:r>
            <a:r>
              <a:rPr lang="ru-RU" sz="1400" dirty="0" smtClean="0">
                <a:solidFill>
                  <a:schemeClr val="bg1"/>
                </a:solidFill>
              </a:rPr>
              <a:t> и технологий в единой среде.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4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9125" y="4457700"/>
            <a:ext cx="5905500" cy="1304925"/>
          </a:xfrm>
          <a:custGeom>
            <a:avLst/>
            <a:gdLst/>
            <a:ahLst/>
            <a:cxnLst/>
            <a:rect l="l" t="t" r="r" b="b"/>
            <a:pathLst>
              <a:path w="5905500" h="1304925">
                <a:moveTo>
                  <a:pt x="5886284" y="0"/>
                </a:moveTo>
                <a:lnTo>
                  <a:pt x="19215" y="0"/>
                </a:lnTo>
                <a:lnTo>
                  <a:pt x="16382" y="558"/>
                </a:lnTo>
                <a:lnTo>
                  <a:pt x="0" y="19215"/>
                </a:lnTo>
                <a:lnTo>
                  <a:pt x="0" y="1282776"/>
                </a:lnTo>
                <a:lnTo>
                  <a:pt x="0" y="1285709"/>
                </a:lnTo>
                <a:lnTo>
                  <a:pt x="19215" y="1304925"/>
                </a:lnTo>
                <a:lnTo>
                  <a:pt x="5886284" y="1304925"/>
                </a:lnTo>
                <a:lnTo>
                  <a:pt x="5905500" y="1285709"/>
                </a:lnTo>
                <a:lnTo>
                  <a:pt x="5905500" y="19215"/>
                </a:lnTo>
                <a:lnTo>
                  <a:pt x="5889104" y="558"/>
                </a:lnTo>
                <a:lnTo>
                  <a:pt x="5886284" y="0"/>
                </a:lnTo>
                <a:close/>
              </a:path>
            </a:pathLst>
          </a:custGeom>
          <a:solidFill>
            <a:srgbClr val="2D2D2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784567" y="4614062"/>
            <a:ext cx="5556250" cy="122469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r>
              <a:rPr lang="ru-RU" b="1" dirty="0" smtClean="0">
                <a:solidFill>
                  <a:schemeClr val="bg1"/>
                </a:solidFill>
              </a:rPr>
              <a:t>Комплексные инструменты</a:t>
            </a:r>
            <a:endParaRPr lang="en-US" b="1" dirty="0" smtClean="0">
              <a:solidFill>
                <a:schemeClr val="bg1"/>
              </a:solidFill>
            </a:endParaRPr>
          </a:p>
          <a:p>
            <a:endParaRPr lang="ru-RU" b="1" dirty="0" smtClean="0">
              <a:solidFill>
                <a:schemeClr val="bg1"/>
              </a:solidFill>
            </a:endParaRPr>
          </a:p>
          <a:p>
            <a:r>
              <a:rPr lang="ru-RU" sz="1400" dirty="0" smtClean="0">
                <a:solidFill>
                  <a:schemeClr val="bg1"/>
                </a:solidFill>
              </a:rPr>
              <a:t>Оптимизируйте рабочий процесс со встроенными инструментами отладки, контроля версий и тестирования.</a:t>
            </a:r>
          </a:p>
          <a:p>
            <a:pPr marL="12700">
              <a:lnSpc>
                <a:spcPct val="100000"/>
              </a:lnSpc>
              <a:spcBef>
                <a:spcPts val="90"/>
              </a:spcBef>
            </a:pPr>
            <a:endParaRPr sz="14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</TotalTime>
  <Words>417</Words>
  <Application>Microsoft Office PowerPoint</Application>
  <PresentationFormat>Произвольный</PresentationFormat>
  <Paragraphs>80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3" baseType="lpstr">
      <vt:lpstr>Courier New</vt:lpstr>
      <vt:lpstr>Trebuchet MS</vt:lpstr>
      <vt:lpstr>Office Theme</vt:lpstr>
      <vt:lpstr>Обзор программного продукта:   IntelliJ IDEA</vt:lpstr>
      <vt:lpstr>Что такое IntelliJ IDEA?</vt:lpstr>
      <vt:lpstr>Версии IntelliJ IDEA</vt:lpstr>
      <vt:lpstr>Ключевые возможности IDE </vt:lpstr>
      <vt:lpstr>Интеграция без границ: Поддержка всех ключевых технологий </vt:lpstr>
      <vt:lpstr>Новинки последних версий (2024-2025) </vt:lpstr>
      <vt:lpstr>Преимущества этой IDE для разработчика </vt:lpstr>
      <vt:lpstr>Установка и первые шаги </vt:lpstr>
      <vt:lpstr>Советы по эффективной работе 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Обзор программного продукта:IntelliJ IDEA</dc:title>
  <cp:lastModifiedBy>Igor</cp:lastModifiedBy>
  <cp:revision>5</cp:revision>
  <dcterms:created xsi:type="dcterms:W3CDTF">2025-11-24T15:45:16Z</dcterms:created>
  <dcterms:modified xsi:type="dcterms:W3CDTF">2025-11-26T20:27:49Z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2025-11-24T00:00:00Z</vt:filetime>
  </property>
  <property fmtid="{D5CDD505-2E9C-101B-9397-08002B2CF9AE}" pid="3" name="LastSaved">
    <vt:filetime>2025-11-24T00:00:00Z</vt:filetime>
  </property>
  <property fmtid="{D5CDD505-2E9C-101B-9397-08002B2CF9AE}" pid="4" name="Producer">
    <vt:lpwstr>iLovePDF</vt:lpwstr>
  </property>
</Properties>
</file>